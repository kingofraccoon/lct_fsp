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slide9.xml" ContentType="application/vnd.openxmlformats-officedocument.presentationml.slide+xml"/>
  <Override PartName="/ppt/slides/slide10.xml" ContentType="application/vnd.openxmlformats-officedocument.presentationml.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5e4667c1224b64" /><Relationship Type="http://schemas.openxmlformats.org/officeDocument/2006/relationships/extended-properties" Target="/docProps/app.xml" Id="Rd6c41808d96447b8" /><Relationship Type="http://schemas.openxmlformats.org/officeDocument/2006/relationships/officeDocument" Target="/ppt/presentation.xml" Id="R6afc049cb0db4f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29fa1a74384440"/>
  </p:sldMasterIdLst>
  <p:sldIdLst>
    <p:sldId xmlns:r="http://schemas.openxmlformats.org/officeDocument/2006/relationships" id="256" r:id="Re43b24b7d21d404c"/>
    <p:sldId xmlns:r="http://schemas.openxmlformats.org/officeDocument/2006/relationships" id="257" r:id="R87f2e723508d4352"/>
    <p:sldId xmlns:r="http://schemas.openxmlformats.org/officeDocument/2006/relationships" id="258" r:id="Rb4a509ee59ae46c7"/>
    <p:sldId xmlns:r="http://schemas.openxmlformats.org/officeDocument/2006/relationships" id="259" r:id="R46cb66da8be746ab"/>
    <p:sldId xmlns:r="http://schemas.openxmlformats.org/officeDocument/2006/relationships" id="260" r:id="R688f14a6951c45c7"/>
    <p:sldId xmlns:r="http://schemas.openxmlformats.org/officeDocument/2006/relationships" id="261" r:id="Ra23d192f93c3422e"/>
    <p:sldId xmlns:r="http://schemas.openxmlformats.org/officeDocument/2006/relationships" id="262" r:id="R86ee2eb8c23940ba"/>
    <p:sldId xmlns:r="http://schemas.openxmlformats.org/officeDocument/2006/relationships" id="263" r:id="R15a82751d1864e10"/>
    <p:sldId xmlns:r="http://schemas.openxmlformats.org/officeDocument/2006/relationships" id="264" r:id="R299e227c28494e8a"/>
    <p:sldId xmlns:r="http://schemas.openxmlformats.org/officeDocument/2006/relationships" id="265" r:id="Re77fb7a4491a40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db9ed47f18a4ca4"/><Relationship Type="http://schemas.openxmlformats.org/officeDocument/2006/relationships/slideMaster" Target="/ppt/slideMasters/slideMaster1.xml" Id="R4429fa1a74384440"/><Relationship Type="http://schemas.openxmlformats.org/officeDocument/2006/relationships/presProps" Target="/ppt/presProps.xml" Id="R3d0e02d0c3f64357"/><Relationship Type="http://schemas.openxmlformats.org/officeDocument/2006/relationships/tableStyles" Target="/ppt/tableStyles.xml" Id="Rc8109298d5c149ea"/><Relationship Type="http://schemas.openxmlformats.org/officeDocument/2006/relationships/slide" Target="/ppt/slides/slide1.xml" Id="Re43b24b7d21d404c"/><Relationship Type="http://schemas.openxmlformats.org/officeDocument/2006/relationships/slide" Target="/ppt/slides/slide2.xml" Id="R87f2e723508d4352"/><Relationship Type="http://schemas.openxmlformats.org/officeDocument/2006/relationships/slide" Target="/ppt/slides/slide3.xml" Id="Rb4a509ee59ae46c7"/><Relationship Type="http://schemas.openxmlformats.org/officeDocument/2006/relationships/slide" Target="/ppt/slides/slide4.xml" Id="R46cb66da8be746ab"/><Relationship Type="http://schemas.openxmlformats.org/officeDocument/2006/relationships/slide" Target="/ppt/slides/slide5.xml" Id="R688f14a6951c45c7"/><Relationship Type="http://schemas.openxmlformats.org/officeDocument/2006/relationships/slide" Target="/ppt/slides/slide6.xml" Id="Ra23d192f93c3422e"/><Relationship Type="http://schemas.openxmlformats.org/officeDocument/2006/relationships/slide" Target="/ppt/slides/slide7.xml" Id="R86ee2eb8c23940ba"/><Relationship Type="http://schemas.openxmlformats.org/officeDocument/2006/relationships/slide" Target="/ppt/slides/slide8.xml" Id="R15a82751d1864e10"/><Relationship Type="http://schemas.openxmlformats.org/officeDocument/2006/relationships/slide" Target="/ppt/slides/slide9.xml" Id="R299e227c28494e8a"/><Relationship Type="http://schemas.openxmlformats.org/officeDocument/2006/relationships/slide" Target="/ppt/slides/slide10.xml" Id="Re77fb7a4491a40a4"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27a472c5841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4b41276d7840d1" /><Relationship Type="http://schemas.openxmlformats.org/officeDocument/2006/relationships/slideLayout" Target="/ppt/slideLayouts/slideLayout1.xml" Id="Rd7d445b04d3040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d445b04d3040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401636ffd094d30"/><Relationship Type="http://schemas.openxmlformats.org/officeDocument/2006/relationships/image" Target="/ppt/media/image.png" Id="R3518e0eb191a4c9e"/><Relationship Type="http://schemas.openxmlformats.org/officeDocument/2006/relationships/image" Target="/ppt/media/image.svg" Id="R0c502bae40924779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7d2c50a74024241"/><Relationship Type="http://schemas.openxmlformats.org/officeDocument/2006/relationships/image" Target="/ppt/media/image2.png" Id="R157b7579cb3647f3"/><Relationship Type="http://schemas.openxmlformats.org/officeDocument/2006/relationships/image" Target="/ppt/media/image2.svg" Id="Rdf005358718249a7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953d582510944a3"/><Relationship Type="http://schemas.openxmlformats.org/officeDocument/2006/relationships/image" Target="/ppt/media/image3.png" Id="R6da0ee4b26e34772"/><Relationship Type="http://schemas.openxmlformats.org/officeDocument/2006/relationships/image" Target="/ppt/media/image3.svg" Id="R1772d804c68446da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10fac8f5fee4187"/><Relationship Type="http://schemas.openxmlformats.org/officeDocument/2006/relationships/image" Target="/ppt/media/image4.png" Id="R795d17dd23c542ca"/><Relationship Type="http://schemas.openxmlformats.org/officeDocument/2006/relationships/image" Target="/ppt/media/image4.svg" Id="R7cb5c619246443bb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38d3f84f13c4e55"/><Relationship Type="http://schemas.openxmlformats.org/officeDocument/2006/relationships/image" Target="/ppt/media/image5.png" Id="R8571477e762b48e3"/><Relationship Type="http://schemas.openxmlformats.org/officeDocument/2006/relationships/image" Target="/ppt/media/image5.svg" Id="Rd39e4d98279249ce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38e728330d94985"/><Relationship Type="http://schemas.openxmlformats.org/officeDocument/2006/relationships/image" Target="/ppt/media/image6.png" Id="R7a8013dea10c4204"/><Relationship Type="http://schemas.openxmlformats.org/officeDocument/2006/relationships/image" Target="/ppt/media/image6.svg" Id="R36505ba883214313"/><Relationship Type="http://schemas.openxmlformats.org/officeDocument/2006/relationships/image" Target="/ppt/media/image7.png" Id="R52ac581256e94781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d5ebcd8b67d44f6"/><Relationship Type="http://schemas.openxmlformats.org/officeDocument/2006/relationships/image" Target="/ppt/media/image8.png" Id="Rd546293b0a0f4762"/><Relationship Type="http://schemas.openxmlformats.org/officeDocument/2006/relationships/image" Target="/ppt/media/image7.svg" Id="Rd6b1dda383ab4bd3"/><Relationship Type="http://schemas.openxmlformats.org/officeDocument/2006/relationships/image" Target="/ppt/media/image9.png" Id="Rfbc209327b4c479c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d41a6eef7d54e0b"/><Relationship Type="http://schemas.openxmlformats.org/officeDocument/2006/relationships/image" Target="/ppt/media/image10.png" Id="R1bb02f502b2e4c20"/><Relationship Type="http://schemas.openxmlformats.org/officeDocument/2006/relationships/image" Target="/ppt/media/image8.svg" Id="Rfdca796defe044f4"/><Relationship Type="http://schemas.openxmlformats.org/officeDocument/2006/relationships/chart" Target="/ppt/slides/charts/chart1.xml" Id="R204bdcc5f9f2418f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e5c3b88691c4d2c"/><Relationship Type="http://schemas.openxmlformats.org/officeDocument/2006/relationships/image" Target="/ppt/media/image11.png" Id="Rc82c1524c14a44b1"/><Relationship Type="http://schemas.openxmlformats.org/officeDocument/2006/relationships/image" Target="/ppt/media/image9.svg" Id="Ra947055c03aa49a6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0ade41c8c784658"/><Relationship Type="http://schemas.openxmlformats.org/officeDocument/2006/relationships/image" Target="/ppt/media/image12.png" Id="R82afa0652bde4ea1"/><Relationship Type="http://schemas.openxmlformats.org/officeDocument/2006/relationships/image" Target="/ppt/media/image10.svg" Id="Radb62df8bb164e88"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Политика продукта</c:v>
          </c:tx>
          <c:spPr>
            <a:solidFill xmlns:a="http://schemas.openxmlformats.org/drawingml/2006/main">
              <a:srgbClr val="402FFF"/>
            </a:solidFill>
          </c:spPr>
          <c:cat>
            <c:strRef>
              <c:f>'Chart Data'!$A$2:$A$4</c:f>
              <c:strCache>
                <c:ptCount val="3"/>
                <c:pt idx="0">
                  <c:v>Разработка</c:v>
                </c:pt>
                <c:pt idx="1">
                  <c:v>Holdout</c:v>
                </c:pt>
                <c:pt idx="2">
                  <c:v>Всего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0.8333</c:v>
                </c:pt>
                <c:pt idx="1">
                  <c:v>0.7778</c:v>
                </c:pt>
                <c:pt idx="2">
                  <c:v>0.8056</c:v>
                </c:pt>
              </c:numCache>
            </c:numRef>
          </c:val>
        </c:ser>
        <c:ser>
          <c:idx val="1"/>
          <c:order val="1"/>
          <c:tx>
            <c:v>Сортировка по заявленным навыкам</c:v>
          </c:tx>
          <c:spPr>
            <a:solidFill xmlns:a="http://schemas.openxmlformats.org/drawingml/2006/main">
              <a:srgbClr val="BFC0C7"/>
            </a:solidFill>
          </c:spPr>
          <c:cat>
            <c:strRef>
              <c:f>'Chart Data'!$C$2:$C$4</c:f>
              <c:strCache>
                <c:ptCount val="3"/>
                <c:pt idx="0">
                  <c:v>Разработка</c:v>
                </c:pt>
                <c:pt idx="1">
                  <c:v>Holdout</c:v>
                </c:pt>
                <c:pt idx="2">
                  <c:v>Всего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0.5556</c:v>
                </c:pt>
                <c:pt idx="1">
                  <c:v>0.5556</c:v>
                </c:pt>
                <c:pt idx="2">
                  <c:v>0.5556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DAText"/>
                  <a:ea typeface="TDAText"/>
                  <a:cs typeface="TDATex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DAText"/>
                <a:ea typeface="TDAText"/>
                <a:cs typeface="TDATex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TDAText"/>
                <a:ea typeface="TDAText"/>
                <a:cs typeface="TDAText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TDAText"/>
              <a:ea typeface="TDAText"/>
              <a:cs typeface="TDAText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8e0eb191a4c9e">
            <a:extLst>
              <a:ext uri="{96DAC541-7B7A-43D3-8B79-37D633B846F1}">
                <asvg:svgBlip xmlns:asvg="http://schemas.microsoft.com/office/drawing/2016/SVG/main" r:embed="R0c502bae409247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0550" y="457200"/>
            <a:ext cx="31432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78DD9-506A-49CD-B02D-54E5AF56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66675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32342-570B-42EE-859B-863C740C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62075"/>
            <a:ext cx="981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rPr>
              <a:t>ФСП Таланты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D290C-9FF1-41B9-8F9C-03B3C2BB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971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352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Обратный подбор</a:t>
            </a:r>
          </a:p>
          <a:p xmlns:a="http://schemas.openxmlformats.org/drawingml/2006/main">
            <a:pPr algn="l">
              <a:defRPr sz="352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352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с проверяемыми основаниями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A404F-F87F-4BDD-BC17-DCF25F90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928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800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Кандидат показывает, чем владеет. Работодатель объясняет,</a:t>
            </a:r>
          </a:p>
          <a:p xmlns:a="http://schemas.openxmlformats.org/drawingml/2006/main">
            <a:pPr algn="l">
              <a:defRPr sz="1800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800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почему приглашает и на каких условиях.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FF1CE-D682-42AD-83CF-2A064EC4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72175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0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Локальная версия продукта • 8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2115151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7b7579cb3647f3">
            <a:extLst>
              <a:ext uri="{96DAC541-7B7A-43D3-8B79-37D633B846F1}">
                <asvg:svgBlip xmlns:asvg="http://schemas.microsoft.com/office/drawing/2016/SVG/main" r:embed="Rdf005358718249a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285750"/>
            <a:ext cx="25717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A3F93-BFBE-4CB1-9AB1-57F3FAA2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2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60EBC5-94F1-41A4-995C-B9DDB028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7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Задача найма и ответ продукта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DEAA4A-0A92-4CB3-BE7F-A604D602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Когда резюме и требования говорят на разных языках, решение трудно объяснить обеим сторонам.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D03C6-F275-4B56-ADD4-57E2FE68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18CB0-41EF-4CEE-BBAA-764BD4C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85C6A-6B65-4167-84AA-DDE817FE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rPr>
              <a:t>РАБОТОДАТЕЛЮ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3B90B-EAEF-430B-A3BF-802BF4A1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17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Сверить потребность</a:t>
            </a:r>
          </a:p>
          <a:p xmlns:a="http://schemas.openxmlformats.org/drawingml/2006/main">
            <a:pPr algn="l">
              <a:defRPr sz="217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17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с данными кандидата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97601-CFAC-4A30-B6CB-414410B4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3526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rPr>
              <a:t>КАНДИДАТУ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B0C7B3-20FE-44CA-9643-FAE1D98F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52725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17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Понять основание</a:t>
            </a:r>
          </a:p>
          <a:p xmlns:a="http://schemas.openxmlformats.org/drawingml/2006/main">
            <a:pPr algn="l">
              <a:defRPr sz="217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17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и условия контакта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771E7-F397-47B3-B414-CDA21128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8125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A0E9EE-A13C-43DC-8A4D-B428A9B9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2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5B7F7-1DFE-40AC-85E5-8E0FEF33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4438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65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Одна потребность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1D7BD-8600-4450-9C78-336F09A5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4438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Обязательные требования и рабочие условия задаёт компания.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45877-5FAD-45A0-AAC5-CC7584F7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24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F7F5D-4198-40F8-8941-29792BC9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057650"/>
            <a:ext cx="4724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65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Один прозрачный отклик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496A6-53F1-4585-80B9-22308303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391025"/>
            <a:ext cx="4724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Кандидат видит повод, зарплатный диапазон, формат и тему разговора.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1E747F-662B-441C-ABA2-598F0498F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72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Фокус MVP: объяснимое соответствие и добровольный первый разговор</a:t>
            </a:r>
          </a:p>
        </p:txBody>
      </p:sp>
    </p:spTree>
    <p:extLst>
      <p:ext uri="{BB962C8B-B14F-4D97-AF65-F5344CB8AC3E}">
        <p14:creationId xmlns:p14="http://schemas.microsoft.com/office/powerpoint/2010/main" val="213577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0ee4b26e34772">
            <a:extLst>
              <a:ext uri="{96DAC541-7B7A-43D3-8B79-37D633B846F1}">
                <asvg:svgBlip xmlns:asvg="http://schemas.microsoft.com/office/drawing/2016/SVG/main" r:embed="R1772d804c68446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285750"/>
            <a:ext cx="25717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7BC92-E174-4C29-B335-1FFDD4CA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2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A603D-0086-4C0E-BEBD-9AFC2017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7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Какие данные что подтверждают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4AE35-C78B-46E3-84A0-850AF117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Четыре источника остаются различимыми в карточке кандидата.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2797A-70D7-4998-B54D-A93A1396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9831C-798C-4F44-B355-5EEFACAD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47700" y="2381250"/>
          <a:ext xmlns:a="http://schemas.openxmlformats.org/drawingml/2006/main" cx="108966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781425"/>
                <a:gridCol w="4638675"/>
              </a:tblGrid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402FFF"/>
                          </a:solidFill>
                          <a:latin typeface="TDAText"/>
                          <a:ea typeface="TDAText"/>
                          <a:cs typeface="TDAText"/>
                        </a:rPr>
                        <a:t>Источник</a:t>
                      </a:r>
                    </a:p>
                  </a:txBody>
                  <a:tcPr marL="91440" marR="91440" marT="45720" marB="45720" anchor="ctr">
                    <a:solidFill>
                      <a:srgbClr val="F4F3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402FFF"/>
                          </a:solidFill>
                          <a:latin typeface="TDAText"/>
                          <a:ea typeface="TDAText"/>
                          <a:cs typeface="TDAText"/>
                        </a:rPr>
                        <a:t>Что показывает</a:t>
                      </a:r>
                    </a:p>
                  </a:txBody>
                  <a:tcPr marL="91440" marR="91440" marT="45720" marB="45720" anchor="ctr">
                    <a:solidFill>
                      <a:srgbClr val="F4F3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402FFF"/>
                          </a:solidFill>
                          <a:latin typeface="TDAText"/>
                          <a:ea typeface="TDAText"/>
                          <a:cs typeface="TDAText"/>
                        </a:rPr>
                        <a:t>Чего не доказывает</a:t>
                      </a:r>
                    </a:p>
                  </a:txBody>
                  <a:tcPr marL="91440" marR="91440" marT="45720" marB="45720" anchor="ctr">
                    <a:solidFill>
                      <a:srgbClr val="F4F3FF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Заявленный профиль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Опыт, стек и предпочтения со слов кандидата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Независимое подтверждение навыка или опыта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Тест платформы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Результат по версии методики и компетенциям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Профессиональную пригодность без проверки валидности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Демо ФСП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Помеченный сигнал участия/результата из demo-источника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Реальную интеграцию с ФСП или личный вклад в командный результат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Условия вакансии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Требования, занятость, формат и зарплатный диапазон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Гарантированное предложение о работе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1CB20-8C05-4C53-A4B9-955E1E7D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435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2FFF"/>
                </a:solidFill>
                <a:latin typeface="TDAText"/>
                <a:ea typeface="TDAText"/>
                <a:cs typeface="TDAText"/>
              </a:defRPr>
            </a:pPr>
            <a:r>
              <a:rPr sz="1800" b="1">
                <a:solidFill>
                  <a:srgbClr val="402FFF"/>
                </a:solidFill>
                <a:latin typeface="TDAText"/>
                <a:ea typeface="TDAText"/>
                <a:cs typeface="TDAText"/>
              </a:rPr>
              <a:t>ФСП-сигнал дополняет профиль внутри подтверждённой категории</a:t>
            </a:r>
          </a:p>
        </p:txBody>
      </p:sp>
    </p:spTree>
    <p:extLst>
      <p:ext uri="{BB962C8B-B14F-4D97-AF65-F5344CB8AC3E}">
        <p14:creationId xmlns:p14="http://schemas.microsoft.com/office/powerpoint/2010/main" val="17400443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5d17dd23c542ca">
            <a:extLst>
              <a:ext uri="{96DAC541-7B7A-43D3-8B79-37D633B846F1}">
                <asvg:svgBlip xmlns:asvg="http://schemas.microsoft.com/office/drawing/2016/SVG/main" r:embed="R7cb5c619246443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285750"/>
            <a:ext cx="25717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97BC4-A8F4-40E0-B69A-AF6B2A29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2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4D3DD-08B1-415C-8134-01098D76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7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Видимость профиля требует явного согласия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93ACD-2AFB-4616-8B6F-DCEFF135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До публикации сервер проверяет принятие двух актуальных документов.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5F0D2-74B0-4FC6-B913-97AF250C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7DB48-7C84-4757-94FA-C73B0EEF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5BFF9-CC15-446D-B415-4BE4C0BC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D277A-156F-4398-B04C-F83CDABB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62200"/>
            <a:ext cx="271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72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Подтвердить email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1E319-C3B2-420A-A035-3AEE33E8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6220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Без подтверждённого адреса профиль не публикуется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7E6C5-01A7-4DCD-8494-F8BC8620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2417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4E762-F34E-44CD-9B9A-E35D32DE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B31BD8-3D2C-4FEB-95F3-0D8C2C29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90875"/>
            <a:ext cx="271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72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Прочитать и принять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BF146-DEB7-4308-B8F3-90347024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Обе версии согласий принимаются отдельно и явно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1BD4CB-61CD-4C0C-BACA-B70D5C84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FA354-620E-49E3-AAC3-EAC66B31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A557E-43DF-4660-9A71-1F4636F4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9550"/>
            <a:ext cx="271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72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Опубликовать профиль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08B30-4411-42E7-8BDF-8D63A1E1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19550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Банк показывает только открытые для подбора профили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E7F71-D3D3-4BE6-A6BD-B06A3616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81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5CDCB-4F30-4699-A41C-CC4F2189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7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809E8-2058-477B-A162-A50EFA99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48225"/>
            <a:ext cx="271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72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Отозвать публикацию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020AF-C5CD-4008-BD06-5B6861DD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48225"/>
            <a:ext cx="7000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Профиль исчезает из поиска; закладка компании сохраняется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85688-80A8-48B4-A470-5557ED30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2FFF"/>
                </a:solidFill>
                <a:latin typeface="TDAText"/>
                <a:ea typeface="TDAText"/>
                <a:cs typeface="TDAText"/>
              </a:defRPr>
            </a:pPr>
            <a:r>
              <a:rPr sz="1500" b="1">
                <a:solidFill>
                  <a:srgbClr val="402FFF"/>
                </a:solidFill>
                <a:latin typeface="TDAText"/>
                <a:ea typeface="TDAText"/>
                <a:cs typeface="TDAText"/>
              </a:rPr>
              <a:t>Поля отрасли, ролей и soft skills остаются заявленными данными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E5D208-074D-4EB9-AAEF-BF12646E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C1D35"/>
                </a:solidFill>
                <a:latin typeface="TDAText"/>
                <a:ea typeface="TDAText"/>
                <a:cs typeface="TDAText"/>
              </a:defRPr>
            </a:pPr>
            <a:r>
              <a:rPr sz="1200" b="0">
                <a:solidFill>
                  <a:srgbClr val="EC1D35"/>
                </a:solidFill>
                <a:latin typeface="TDAText"/>
                <a:ea typeface="TDAText"/>
                <a:cs typeface="TDAText"/>
              </a:rPr>
              <a:t>Тексты согласий версии 1.0 — проект для проверки оператором</a:t>
            </a:r>
          </a:p>
        </p:txBody>
      </p:sp>
    </p:spTree>
    <p:extLst>
      <p:ext uri="{BB962C8B-B14F-4D97-AF65-F5344CB8AC3E}">
        <p14:creationId xmlns:p14="http://schemas.microsoft.com/office/powerpoint/2010/main" val="1589286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1477e762b48e3">
            <a:extLst>
              <a:ext uri="{96DAC541-7B7A-43D3-8B79-37D633B846F1}">
                <asvg:svgBlip xmlns:asvg="http://schemas.microsoft.com/office/drawing/2016/SVG/main" r:embed="Rd39e4d98279249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285750"/>
            <a:ext cx="25717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D9CE2-F96B-427A-AB0F-9E71AB4D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2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19EFF-4B2B-49B3-B88A-1AA23E52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7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Первичная оценка: Backend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BE5196-1A7D-4FB8-ADA3-7F85DBF2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Один вариант методики применяется к кандидату, а не к конкретной вакансии.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363700-6252-44F0-8867-8A1AF44C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28662-557E-4070-AAD6-54B4C46B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09F79-13F4-4EC2-9CDC-A5CF4ACB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4425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BBF88-74CA-4ED7-A9DA-AD3F1344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500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заданий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5BECC-5BDC-45D5-884D-F151141D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38400"/>
            <a:ext cx="1619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4425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rPr>
              <a:t>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8ABFD-BF42-4806-BB0A-151C7ED0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289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500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подвопроса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A5B58-BA74-459F-97DC-1996E12A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38400"/>
            <a:ext cx="180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3600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rPr>
              <a:t>4 × 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F9895-6D80-4E1A-844C-A049D5D6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289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350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баллов по компетенциям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1E57C-6EF5-4E96-B389-CB6694C4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38400"/>
            <a:ext cx="2552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defRPr>
            </a:pPr>
            <a:r>
              <a:rPr sz="352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rPr>
              <a:t>18 / 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717C13-8543-403F-9D0F-B650B472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28975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350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и минимум 3 / 6 в каждом блоке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A8CB5-924C-42B0-BC53-26BF96FD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810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B5D6E0-F0BD-4285-A6F8-C0D43597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576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57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Python basics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12A41-7A2B-422A-837B-A3AD186D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5767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57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HTTP /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8485E-02F2-4A13-A7F6-071B7803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57675"/>
            <a:ext cx="2333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57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SQL / транзакции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1CA7E-AB32-4F4D-9E04-EB156EA5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576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57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Надёжность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CDCA4-E02C-4E2A-B1A6-0E3B1B60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10572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8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Проход по сумме и каждому критическому блоку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74E33D-AAD8-498C-95C4-A3804930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Стартовые инженерные пороги. Банк не откалиброван на реальных кандидатах.</a:t>
            </a:r>
          </a:p>
        </p:txBody>
      </p:sp>
    </p:spTree>
    <p:extLst>
      <p:ext uri="{BB962C8B-B14F-4D97-AF65-F5344CB8AC3E}">
        <p14:creationId xmlns:p14="http://schemas.microsoft.com/office/powerpoint/2010/main" val="11221909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013dea10c4204">
            <a:extLst>
              <a:ext uri="{96DAC541-7B7A-43D3-8B79-37D633B846F1}">
                <asvg:svgBlip xmlns:asvg="http://schemas.microsoft.com/office/drawing/2016/SVG/main" r:embed="R36505ba8832143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285750"/>
            <a:ext cx="25717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2C1EB-6C21-42BE-9BF4-A4B030D0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2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016D6-CA65-44D5-BAE6-8DBED6FE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7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Банк кандидатов работает без вакансии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8306C-158B-4BD2-B03E-E060CF2B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Серверные фильтры помогают искать и различать источники свидетельств.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A7FB6-F5FF-47C3-BD0D-43FC14A0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1771A2-0736-4F5C-950C-94DFAC01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c581256e94781"/>
          <a:stretch xmlns:a="http://schemas.openxmlformats.org/drawingml/2006/main"/>
        </p:blipFill>
        <p:spPr>
          <a:xfrm xmlns:a="http://schemas.openxmlformats.org/drawingml/2006/main">
            <a:off x="1963738" y="2343150"/>
            <a:ext cx="3492500" cy="3667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0D4C1-90C3-46DE-8368-8BC780F7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24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2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CA9B8-67AF-40C1-ADD5-66DDEACE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3981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5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Независимый поиск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239AF-E4E2-4D6E-A922-FF3B54B5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90825"/>
            <a:ext cx="3981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27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Можно открыть банк, не создавая потребность.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6F3721-7E18-4782-813F-67AA5D6F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38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14726-D4CD-4F12-83D0-DF7ABA98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71850"/>
            <a:ext cx="3981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5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Явные фильтры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13838-AD22-45C3-A0EF-19FD70B4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05225"/>
            <a:ext cx="3981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27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Специализация, подтверждённый грейд, навыки и источник ФСП.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689AB-AB18-4D1E-91CA-DA24995B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52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2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E6628-C582-44AC-A6E5-F4B00AD2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3981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5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Основания видны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63F652-E575-4CE0-A362-BC94E612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19625"/>
            <a:ext cx="3981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27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Тестовые и заявленные навыки, FSP mock и demo различимы.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E67BC-6966-487B-9F55-A0211893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562600"/>
            <a:ext cx="4095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350" b="1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Шорт-лист сохраняется при смене фильтров</a:t>
            </a:r>
          </a:p>
        </p:txBody>
      </p:sp>
    </p:spTree>
    <p:extLst>
      <p:ext uri="{BB962C8B-B14F-4D97-AF65-F5344CB8AC3E}">
        <p14:creationId xmlns:p14="http://schemas.microsoft.com/office/powerpoint/2010/main" val="592115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6293b0a0f4762">
            <a:extLst>
              <a:ext uri="{96DAC541-7B7A-43D3-8B79-37D633B846F1}">
                <asvg:svgBlip xmlns:asvg="http://schemas.microsoft.com/office/drawing/2016/SVG/main" r:embed="Rd6b1dda383ab4bd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285750"/>
            <a:ext cx="25717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3A358-59CA-4F81-B50F-FE6B24B8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2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D949C-5B4D-4326-B0DD-E2E60CF2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7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Приглашение сохраняет снимок компании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189DC-19B4-458D-ABA5-6EF8FF6E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Кандидат видит условия и контакты компании на момент отправки.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BB04B-AB6C-4CA8-AB23-2847683D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243CD-B024-4C81-BCA7-9ED7FBFE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c209327b4c479c"/>
          <a:stretch xmlns:a="http://schemas.openxmlformats.org/drawingml/2006/main"/>
        </p:blipFill>
        <p:spPr>
          <a:xfrm xmlns:a="http://schemas.openxmlformats.org/drawingml/2006/main">
            <a:off x="644842" y="2352675"/>
            <a:ext cx="5273040" cy="3295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48704-8E1E-4B16-B281-7AD44D5C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955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AAA64-EAEE-4F91-9E98-1A3614B7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95550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425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Компания отправляет диапазон зарплаты и условия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6AEC2-5FEA-4F66-B6F3-8F7CA9E6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765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3E289-18F5-46E3-BD6F-B678E3FD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766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F31E8-82DF-4FFF-BF7A-7AE5A2EC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76600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Данные компании фиксируются в этой версии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D40BDB-4F3B-4940-B70E-1C7FC1AF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8576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FE87D-3170-4BDD-A2F5-BB458E76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5765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C3297-4FF5-4C5E-95D6-2742BA99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57650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Кандидат принимает предложение или отказывает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4952D-339D-4D3C-B520-7852256A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386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35AECB-80E5-4291-B00F-DBF88BCF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38700"/>
            <a:ext cx="361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defRPr>
            </a:pPr>
            <a:r>
              <a:rPr sz="1425" b="1">
                <a:solidFill>
                  <a:srgbClr val="EC1D35"/>
                </a:solidFill>
                <a:latin typeface="JetBrains Mono"/>
                <a:ea typeface="JetBrains Mono"/>
                <a:cs typeface="JetBrains Mono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D1B7B-F1A2-4766-AA1B-6C8FDB53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38700"/>
            <a:ext cx="46863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Принятие открывает выбранный email; доступ можно отозвать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79B97-46DE-4D4C-BA4B-A6DC5180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340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02FFF"/>
                </a:solidFill>
                <a:latin typeface="TDAText"/>
                <a:ea typeface="TDAText"/>
                <a:cs typeface="TDAText"/>
              </a:defRPr>
            </a:pPr>
            <a:r>
              <a:rPr sz="1425" b="1">
                <a:solidFill>
                  <a:srgbClr val="402FFF"/>
                </a:solidFill>
                <a:latin typeface="TDAText"/>
                <a:ea typeface="TDAText"/>
                <a:cs typeface="TDAText"/>
              </a:rPr>
              <a:t>Чтение контакта и экспорт записываются в журнал</a:t>
            </a:r>
          </a:p>
        </p:txBody>
      </p:sp>
    </p:spTree>
    <p:extLst>
      <p:ext uri="{BB962C8B-B14F-4D97-AF65-F5344CB8AC3E}">
        <p14:creationId xmlns:p14="http://schemas.microsoft.com/office/powerpoint/2010/main" val="1181183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02f502b2e4c20">
            <a:extLst>
              <a:ext uri="{96DAC541-7B7A-43D3-8B79-37D633B846F1}">
                <asvg:svgBlip xmlns:asvg="http://schemas.microsoft.com/office/drawing/2016/SVG/main" r:embed="Rfdca796defe044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285750"/>
            <a:ext cx="25717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9366A-0A4E-499A-BBE5-A16325D2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2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1C1D6-0567-456F-B2A8-927D2832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7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Что показали синтетические проверки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91F87-014F-4E84-BB5A-2ED9EB83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Два разных набора отвечают на разные инженерные вопросы.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64350-0A0B-422F-A7C6-0DD8D7C8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932B4-0FB2-441A-8AB8-1FD9BB50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5715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4bdcc5f9f2418f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D7E1F-5B7D-45E0-8138-EB0FCA51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38775"/>
            <a:ext cx="5762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P@3, политика / сортировка навыков</a:t>
            </a:r>
          </a:p>
          <a:p xmlns:a="http://schemas.openxmlformats.org/drawingml/2006/main">
            <a:pPr algn="l">
              <a:defRPr sz="1050" b="0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Разработка 83,3% / 55,6%   Holdout 77,8% / 55,6%</a:t>
            </a:r>
          </a:p>
          <a:p xmlns:a="http://schemas.openxmlformats.org/drawingml/2006/main">
            <a:pPr algn="l">
              <a:defRPr sz="1050" b="0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Всего 80,6% / 55,6%, 12 потребностей, 240 оценок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D0F1D-8B16-4800-92E0-9022AC0E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907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19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8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Оценка банка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0BF018-31E3-4A4E-8490-B8BFACD3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47975"/>
            <a:ext cx="4495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43 из 48 пар сохраняют решение</a:t>
            </a:r>
          </a:p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5 различий приходятся на профили у порога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896100" y="3705225"/>
          <a:ext xmlns:a="http://schemas.openxmlformats.org/drawingml/2006/main" cx="4514850" cy="1438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1219200"/>
                <a:gridCol w="1295400"/>
              </a:tblGrid>
              <a:tr h="7191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402FFF"/>
                          </a:solidFill>
                          <a:latin typeface="TDAText"/>
                          <a:ea typeface="TDAText"/>
                          <a:cs typeface="TDAText"/>
                        </a:rPr>
                        <a:t>Проверка повторов</a:t>
                      </a:r>
                    </a:p>
                  </a:txBody>
                  <a:tcPr marL="91440" marR="91440" marT="45720" marB="45720" anchor="ctr">
                    <a:solidFill>
                      <a:srgbClr val="F4F3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402FFF"/>
                          </a:solidFill>
                          <a:latin typeface="TDAText"/>
                          <a:ea typeface="TDAText"/>
                          <a:cs typeface="TDAText"/>
                        </a:rPr>
                        <a:t>Пары совпали</a:t>
                      </a:r>
                    </a:p>
                  </a:txBody>
                  <a:tcPr marL="91440" marR="91440" marT="45720" marB="45720" anchor="ctr">
                    <a:solidFill>
                      <a:srgbClr val="F4F3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402FFF"/>
                          </a:solidFill>
                          <a:latin typeface="TDAText"/>
                          <a:ea typeface="TDAText"/>
                          <a:cs typeface="TDAText"/>
                        </a:rPr>
                        <a:t>Всего</a:t>
                      </a:r>
                    </a:p>
                  </a:txBody>
                  <a:tcPr marL="91440" marR="91440" marT="45720" marB="45720" anchor="ctr">
                    <a:solidFill>
                      <a:srgbClr val="F4F3FF"/>
                    </a:solidFill>
                  </a:tcPr>
                </a:tc>
              </a:tr>
              <a:tr h="7191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1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Синтетический test–retest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125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F296F-84B4-4F08-9A24-BD19AE642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353050"/>
            <a:ext cx="46101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C1D35"/>
                </a:solidFill>
                <a:latin typeface="TDAText"/>
                <a:ea typeface="TDAText"/>
                <a:cs typeface="TDAText"/>
              </a:defRPr>
            </a:pPr>
            <a:r>
              <a:rPr sz="1275" b="1">
                <a:solidFill>
                  <a:srgbClr val="EC1D35"/>
                </a:solidFill>
                <a:latin typeface="TDAText"/>
                <a:ea typeface="TDAText"/>
                <a:cs typeface="TDAText"/>
              </a:rPr>
              <a:t>Метрики отражают заданные правила симуляции. Нет человеческой разметки и результатов найма.</a:t>
            </a:r>
          </a:p>
        </p:txBody>
      </p:sp>
    </p:spTree>
    <p:extLst>
      <p:ext uri="{BB962C8B-B14F-4D97-AF65-F5344CB8AC3E}">
        <p14:creationId xmlns:p14="http://schemas.microsoft.com/office/powerpoint/2010/main" val="16158539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c1524c14a44b1">
            <a:extLst>
              <a:ext uri="{96DAC541-7B7A-43D3-8B79-37D633B846F1}">
                <asvg:svgBlip xmlns:asvg="http://schemas.microsoft.com/office/drawing/2016/SVG/main" r:embed="Ra947055c03aa49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285750"/>
            <a:ext cx="25717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08650-E47C-47E9-9C19-0ECFA015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2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30CB24-FCC3-4BA6-AC46-E581C632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7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Техническая основа и границы готовности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1DA63-EEC4-4A5B-8B51-7D955392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v1.2 прошла локальные проверки на синтетических аккаунтах.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69A4B1-7A58-4224-BB9E-2E0F0504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2CB17-DE9A-4764-8CBF-CC871C84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66750" y="2400300"/>
          <a:ext xmlns:a="http://schemas.openxmlformats.org/drawingml/2006/main" cx="5048250" cy="2305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238500"/>
              </a:tblGrid>
              <a:tr h="4610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402FFF"/>
                          </a:solidFill>
                          <a:latin typeface="TDAText"/>
                          <a:ea typeface="TDAText"/>
                          <a:cs typeface="TDAText"/>
                        </a:rPr>
                        <a:t>Слой</a:t>
                      </a:r>
                    </a:p>
                  </a:txBody>
                  <a:tcPr marL="91440" marR="91440" marT="45720" marB="45720" anchor="ctr">
                    <a:solidFill>
                      <a:srgbClr val="F4F3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402FFF"/>
                          </a:solidFill>
                          <a:latin typeface="TDAText"/>
                          <a:ea typeface="TDAText"/>
                          <a:cs typeface="TDAText"/>
                        </a:rPr>
                        <a:t>Текущая основа</a:t>
                      </a:r>
                    </a:p>
                  </a:txBody>
                  <a:tcPr marL="91440" marR="91440" marT="45720" marB="45720" anchor="ctr">
                    <a:solidFill>
                      <a:srgbClr val="F4F3FF"/>
                    </a:solidFill>
                  </a:tcPr>
                </a:tc>
              </a:tr>
              <a:tr h="4610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Интерфейс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React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Spring Boot / Kotlin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Данные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PostgreSQL 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101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Доставка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B1C21"/>
                          </a:solidFill>
                          <a:latin typeface="TDAText"/>
                          <a:ea typeface="TDAText"/>
                          <a:cs typeface="TDAText"/>
                        </a:rPr>
                        <a:t>Same-origin cookie, CSRF, outbox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9A260-0607-4741-8C97-F833768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45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925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rPr>
              <a:t>107 / 107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362F7-C50C-447C-946E-4AFAAAE6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350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backend-тестов, bootJar прошёл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4EBBBB-E8BA-4435-971F-D2D119DB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909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72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2925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rPr>
              <a:t>13 / 13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7AA45-2BAB-4A4E-81AE-AF4D96CB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05250"/>
            <a:ext cx="4810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27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сквозных проверок v1.2: HTTP и Chromium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4085F-7A20-4897-AC52-38809A06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243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defRPr>
            </a:pPr>
            <a:r>
              <a:rPr sz="1500" b="1">
                <a:solidFill>
                  <a:srgbClr val="402FFF"/>
                </a:solidFill>
                <a:latin typeface="JetBrains Mono"/>
                <a:ea typeface="JetBrains Mono"/>
                <a:cs typeface="JetBrains Mono"/>
              </a:rPr>
              <a:t>46 API-путей   55 операций   82 схемы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35414-0F5E-4BF8-8DDB-30761777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482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5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200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OpenAPI-контракт v1.2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4B600-ADB1-469F-8EE0-29B0B017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435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C1D35"/>
                </a:solidFill>
                <a:latin typeface="TDAText"/>
                <a:ea typeface="TDAText"/>
                <a:cs typeface="TDAText"/>
              </a:defRPr>
            </a:pPr>
            <a:r>
              <a:rPr sz="1575" b="1">
                <a:solidFill>
                  <a:srgbClr val="EC1D35"/>
                </a:solidFill>
                <a:latin typeface="TDAText"/>
                <a:ea typeface="TDAText"/>
                <a:cs typeface="TDAText"/>
              </a:rPr>
              <a:t>Публичный стенд, пилот с людьми и реальная интеграция ФСП не заявлены</a:t>
            </a:r>
          </a:p>
        </p:txBody>
      </p:sp>
    </p:spTree>
    <p:extLst>
      <p:ext uri="{BB962C8B-B14F-4D97-AF65-F5344CB8AC3E}">
        <p14:creationId xmlns:p14="http://schemas.microsoft.com/office/powerpoint/2010/main" val="17179607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fa0652bde4ea1">
            <a:extLst>
              <a:ext uri="{96DAC541-7B7A-43D3-8B79-37D633B846F1}">
                <asvg:svgBlip xmlns:asvg="http://schemas.microsoft.com/office/drawing/2016/SVG/main" r:embed="Radb62df8bb164e8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1500" y="285750"/>
            <a:ext cx="25717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AF2E8-0F4E-4414-8ACB-20BF8EC5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52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defRPr>
            </a:pPr>
            <a:r>
              <a:rPr sz="1125" b="1">
                <a:solidFill>
                  <a:srgbClr val="62636A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3C9C0-325C-4325-A54F-67743EEC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11001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270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Следующий шаг: ограниченный пилот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FDF4C-B0A2-4F9E-B700-04F54743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Сначала проверить понятность и безопасность процесса на согласованной группе участников.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B1ED9C-2902-4758-9B3A-168A54D7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7CB06-FA04-496D-8D29-4737B0A7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3B95C-B1B1-4FCB-8E73-138A9B08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2FFF"/>
                </a:solidFill>
                <a:latin typeface="TDAText"/>
                <a:ea typeface="TDAText"/>
                <a:cs typeface="TDAText"/>
              </a:defRPr>
            </a:pPr>
            <a:r>
              <a:rPr sz="1800" b="1">
                <a:solidFill>
                  <a:srgbClr val="402FFF"/>
                </a:solidFill>
                <a:latin typeface="TDAText"/>
                <a:ea typeface="TDAText"/>
                <a:cs typeface="TDAText"/>
              </a:rPr>
              <a:t>1. Подготовить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620D8-347D-445D-A613-DF788978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AB0A5-9BB6-4F8E-8641-79A2A5F6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33147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500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Независимо отрецензировать вопросы и эталоны. Согласовать доступ к стенду, хранение данных и демо-аккаунты.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9A823-424B-4F32-9CE8-D159568C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431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C1D35"/>
                </a:solidFill>
                <a:latin typeface="TDAText"/>
                <a:ea typeface="TDAText"/>
                <a:cs typeface="TDAText"/>
              </a:defRPr>
            </a:pPr>
            <a:r>
              <a:rPr sz="1800" b="1">
                <a:solidFill>
                  <a:srgbClr val="EC1D35"/>
                </a:solidFill>
                <a:latin typeface="TDAText"/>
                <a:ea typeface="TDAText"/>
                <a:cs typeface="TDAText"/>
              </a:rPr>
              <a:t>2. Наблюдать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A7B07-B0B7-4DF4-8608-EB39C562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38475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1D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A21C5-3E6B-4FD9-BFB2-A941C84D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67075"/>
            <a:ext cx="33147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500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Проверить профиль, тест, объяснение соответствия, предложение и отзыв контактов на сценариях кандидата и работодателя.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3AB48-DE56-476F-8666-63A0866F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431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02FFF"/>
                </a:solidFill>
                <a:latin typeface="TDAText"/>
                <a:ea typeface="TDAText"/>
                <a:cs typeface="TDAText"/>
              </a:defRPr>
            </a:pPr>
            <a:r>
              <a:rPr sz="1800" b="1">
                <a:solidFill>
                  <a:srgbClr val="402FFF"/>
                </a:solidFill>
                <a:latin typeface="TDAText"/>
                <a:ea typeface="TDAText"/>
                <a:cs typeface="TDAText"/>
              </a:rPr>
              <a:t>3. Решить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53B77D-EF46-4BE2-BA44-C1C20404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38475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86644-7A28-4FFE-B8F6-97678B2C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33147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500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Сверить ошибки, спорные вопросы, отказы и причины. Только затем определить объём следующего релиза.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17D58-9D08-41E7-A819-3861A13D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B1C21"/>
                </a:solidFill>
                <a:latin typeface="TDAText"/>
                <a:ea typeface="TDAText"/>
                <a:cs typeface="TDAText"/>
              </a:defRPr>
            </a:pPr>
            <a:r>
              <a:rPr sz="1650" b="1">
                <a:solidFill>
                  <a:srgbClr val="1B1C21"/>
                </a:solidFill>
                <a:latin typeface="TDAText"/>
                <a:ea typeface="TDAText"/>
                <a:cs typeface="TDAText"/>
              </a:rPr>
              <a:t>Расширения после подтверждения ядра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C9F14-3167-4889-8259-5C700953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572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2636A"/>
                </a:solidFill>
                <a:latin typeface="TDAText"/>
                <a:ea typeface="TDAText"/>
                <a:cs typeface="TDAText"/>
              </a:defRPr>
            </a:pPr>
            <a:r>
              <a:rPr sz="1425" b="0">
                <a:solidFill>
                  <a:srgbClr val="62636A"/>
                </a:solidFill>
                <a:latin typeface="TDAText"/>
                <a:ea typeface="TDAText"/>
                <a:cs typeface="TDAText"/>
              </a:rPr>
              <a:t>Задачи вакансии уже поддержаны как ограниченное дополнение. ATS и новые оценочные контуры требуют отдельного решения и доказательств.</a:t>
            </a:r>
          </a:p>
        </p:txBody>
      </p:sp>
    </p:spTree>
    <p:extLst>
      <p:ext uri="{BB962C8B-B14F-4D97-AF65-F5344CB8AC3E}">
        <p14:creationId xmlns:p14="http://schemas.microsoft.com/office/powerpoint/2010/main" val="1079088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2026-10-08T07:52:10.1450000Z</dcterms:created>
  <dcterms:modified xsi:type="dcterms:W3CDTF">2026-10-08T07:52:10.1450000Z</dcterms:modified>
</coreProperties>
</file>